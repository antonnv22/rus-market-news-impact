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46E76-47FB-4D5A-9E85-3E10553EC5EC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2C246-88B4-426E-8809-715393C53E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954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46E76-47FB-4D5A-9E85-3E10553EC5EC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2C246-88B4-426E-8809-715393C53E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8206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46E76-47FB-4D5A-9E85-3E10553EC5EC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2C246-88B4-426E-8809-715393C53E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15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46E76-47FB-4D5A-9E85-3E10553EC5EC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2C246-88B4-426E-8809-715393C53E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465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46E76-47FB-4D5A-9E85-3E10553EC5EC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2C246-88B4-426E-8809-715393C53E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780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46E76-47FB-4D5A-9E85-3E10553EC5EC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2C246-88B4-426E-8809-715393C53E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691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46E76-47FB-4D5A-9E85-3E10553EC5EC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2C246-88B4-426E-8809-715393C53E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782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46E76-47FB-4D5A-9E85-3E10553EC5EC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2C246-88B4-426E-8809-715393C53E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446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46E76-47FB-4D5A-9E85-3E10553EC5EC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2C246-88B4-426E-8809-715393C53E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2366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46E76-47FB-4D5A-9E85-3E10553EC5EC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2C246-88B4-426E-8809-715393C53E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1944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46E76-47FB-4D5A-9E85-3E10553EC5EC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2C246-88B4-426E-8809-715393C53E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234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46E76-47FB-4D5A-9E85-3E10553EC5EC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2C246-88B4-426E-8809-715393C53E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7327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Влияние новостного </a:t>
            </a:r>
            <a:r>
              <a:rPr lang="ru-RU" b="1" dirty="0" err="1" smtClean="0"/>
              <a:t>сентимента</a:t>
            </a:r>
            <a:r>
              <a:rPr lang="ru-RU" b="1" dirty="0" smtClean="0"/>
              <a:t> на цены акций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MOEX + </a:t>
            </a:r>
            <a:r>
              <a:rPr lang="ru-RU" dirty="0" smtClean="0"/>
              <a:t>новости</a:t>
            </a:r>
          </a:p>
          <a:p>
            <a:r>
              <a:rPr lang="ru-RU" dirty="0" smtClean="0"/>
              <a:t>Вершинин Антон Николаевич </a:t>
            </a:r>
            <a:endParaRPr lang="en-US" dirty="0" smtClean="0"/>
          </a:p>
          <a:p>
            <a:r>
              <a:rPr lang="en-US" dirty="0" smtClean="0"/>
              <a:t>DS-19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5426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Слайд 2. Задача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Проблема</a:t>
            </a:r>
          </a:p>
          <a:p>
            <a:r>
              <a:rPr lang="ru-RU" dirty="0" smtClean="0"/>
              <a:t>новостей много</a:t>
            </a:r>
          </a:p>
          <a:p>
            <a:r>
              <a:rPr lang="ru-RU" dirty="0" smtClean="0"/>
              <a:t>рынок реагирует не на всё</a:t>
            </a:r>
          </a:p>
          <a:p>
            <a:pPr marL="0" indent="0">
              <a:buNone/>
            </a:pPr>
            <a:r>
              <a:rPr lang="ru-RU" dirty="0" smtClean="0"/>
              <a:t>Цель</a:t>
            </a:r>
          </a:p>
          <a:p>
            <a:r>
              <a:rPr lang="ru-RU" dirty="0" smtClean="0"/>
              <a:t>выявить </a:t>
            </a:r>
            <a:r>
              <a:rPr lang="en-US" dirty="0" smtClean="0"/>
              <a:t>price-moving </a:t>
            </a:r>
            <a:r>
              <a:rPr lang="ru-RU" dirty="0" smtClean="0"/>
              <a:t>новости</a:t>
            </a:r>
          </a:p>
          <a:p>
            <a:r>
              <a:rPr lang="ru-RU" dirty="0" smtClean="0"/>
              <a:t>оценить вклад </a:t>
            </a:r>
            <a:r>
              <a:rPr lang="ru-RU" dirty="0" err="1" smtClean="0"/>
              <a:t>сентимента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3800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Слайд 3. Данные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котировки </a:t>
            </a:r>
            <a:r>
              <a:rPr lang="en-US" dirty="0" smtClean="0"/>
              <a:t>MOEX (</a:t>
            </a:r>
            <a:r>
              <a:rPr lang="ru-RU" dirty="0" smtClean="0"/>
              <a:t>дневные)</a:t>
            </a:r>
          </a:p>
          <a:p>
            <a:r>
              <a:rPr lang="ru-RU" dirty="0" smtClean="0"/>
              <a:t>новости: </a:t>
            </a:r>
            <a:r>
              <a:rPr lang="en-US" dirty="0" smtClean="0"/>
              <a:t>RBC, </a:t>
            </a:r>
            <a:r>
              <a:rPr lang="en-US" dirty="0" err="1" smtClean="0"/>
              <a:t>Finam</a:t>
            </a:r>
            <a:r>
              <a:rPr lang="en-US" dirty="0" smtClean="0"/>
              <a:t>, </a:t>
            </a:r>
            <a:r>
              <a:rPr lang="en-US" dirty="0" err="1" smtClean="0"/>
              <a:t>SmartLab</a:t>
            </a:r>
            <a:endParaRPr lang="ru-RU" dirty="0" smtClean="0"/>
          </a:p>
          <a:p>
            <a:r>
              <a:rPr lang="ru-RU" dirty="0" smtClean="0"/>
              <a:t>агрегация по дню и </a:t>
            </a:r>
            <a:r>
              <a:rPr lang="ru-RU" dirty="0" err="1" smtClean="0"/>
              <a:t>тикеру</a:t>
            </a:r>
            <a:endParaRPr lang="ru-RU" dirty="0" smtClean="0"/>
          </a:p>
          <a:p>
            <a:pPr marL="0" indent="0">
              <a:buNone/>
            </a:pPr>
            <a:r>
              <a:rPr lang="ru-RU" b="1" dirty="0" smtClean="0"/>
              <a:t>Итого:</a:t>
            </a:r>
            <a:r>
              <a:rPr lang="ru-RU" dirty="0" smtClean="0"/>
              <a:t> рынок + информационный фон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406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Слайд 4. Признаки и модель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000" dirty="0" smtClean="0"/>
              <a:t>Признаки</a:t>
            </a:r>
          </a:p>
          <a:p>
            <a:r>
              <a:rPr lang="ru-RU" sz="2000" dirty="0" err="1" smtClean="0"/>
              <a:t>Сентимент</a:t>
            </a:r>
            <a:endParaRPr lang="ru-RU" sz="2000" dirty="0" smtClean="0"/>
          </a:p>
          <a:p>
            <a:r>
              <a:rPr lang="ru-RU" sz="2000" dirty="0" smtClean="0"/>
              <a:t>количество новостей</a:t>
            </a:r>
          </a:p>
          <a:p>
            <a:r>
              <a:rPr lang="ru-RU" sz="2000" dirty="0" smtClean="0"/>
              <a:t>Лаги</a:t>
            </a:r>
          </a:p>
          <a:p>
            <a:r>
              <a:rPr lang="ru-RU" sz="2000" dirty="0" smtClean="0"/>
              <a:t>рыночные характеристики</a:t>
            </a:r>
          </a:p>
          <a:p>
            <a:pPr marL="0" indent="0">
              <a:buNone/>
            </a:pPr>
            <a:r>
              <a:rPr lang="ru-RU" sz="2000" dirty="0" smtClean="0"/>
              <a:t>Модель: </a:t>
            </a:r>
            <a:r>
              <a:rPr lang="en-US" sz="2000" dirty="0" err="1" smtClean="0"/>
              <a:t>CatBoost</a:t>
            </a:r>
            <a:endParaRPr lang="ru-RU" sz="2000" dirty="0" smtClean="0"/>
          </a:p>
          <a:p>
            <a:r>
              <a:rPr lang="ru-RU" sz="2000" dirty="0" smtClean="0"/>
              <a:t>Нелинейности</a:t>
            </a:r>
          </a:p>
          <a:p>
            <a:r>
              <a:rPr lang="ru-RU" sz="2000" dirty="0" smtClean="0"/>
              <a:t>устойчив к шуму</a:t>
            </a:r>
          </a:p>
          <a:p>
            <a:r>
              <a:rPr lang="ru-RU" sz="2000" dirty="0" smtClean="0"/>
              <a:t>поддерживает </a:t>
            </a:r>
            <a:r>
              <a:rPr lang="en-US" sz="2000" dirty="0" smtClean="0"/>
              <a:t>SHAP</a:t>
            </a:r>
            <a:endParaRPr lang="ru-RU" sz="2000" dirty="0" smtClean="0"/>
          </a:p>
          <a:p>
            <a:pPr marL="0" indent="0">
              <a:buNone/>
            </a:pPr>
            <a:r>
              <a:rPr lang="ru-RU" sz="2000" dirty="0" smtClean="0"/>
              <a:t>Модель — инструмент интерпретации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1715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Слайд 5. Зачем </a:t>
            </a:r>
            <a:r>
              <a:rPr lang="en-US" b="1" dirty="0" smtClean="0"/>
              <a:t>SHAP 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SHAP </a:t>
            </a:r>
            <a:r>
              <a:rPr lang="ru-RU" dirty="0" smtClean="0"/>
              <a:t>позволяет:</a:t>
            </a:r>
          </a:p>
          <a:p>
            <a:r>
              <a:rPr lang="ru-RU" dirty="0" smtClean="0"/>
              <a:t>понять вклад факторов</a:t>
            </a:r>
          </a:p>
          <a:p>
            <a:r>
              <a:rPr lang="ru-RU" dirty="0" smtClean="0"/>
              <a:t>увидеть влияние по датам</a:t>
            </a:r>
          </a:p>
          <a:p>
            <a:r>
              <a:rPr lang="ru-RU" dirty="0" smtClean="0"/>
              <a:t>перейти от чисел к новостям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7032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Слайд 6. SHAP по времени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Наблюдение</a:t>
            </a:r>
          </a:p>
          <a:p>
            <a:r>
              <a:rPr lang="ru-RU" dirty="0" smtClean="0"/>
              <a:t>в большинстве дней вклад новостей ≈ 0</a:t>
            </a:r>
          </a:p>
          <a:p>
            <a:r>
              <a:rPr lang="ru-RU" dirty="0" smtClean="0"/>
              <a:t>иногда — резкие пики</a:t>
            </a:r>
          </a:p>
          <a:p>
            <a:pPr marL="0" indent="0">
              <a:buNone/>
            </a:pPr>
            <a:r>
              <a:rPr lang="ru-RU" dirty="0" smtClean="0"/>
              <a:t>Вывод:</a:t>
            </a:r>
          </a:p>
          <a:p>
            <a:pPr marL="0" indent="0">
              <a:buNone/>
            </a:pPr>
            <a:r>
              <a:rPr lang="ru-RU" dirty="0" smtClean="0"/>
              <a:t>рынок реагирует редко, но сильно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788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Слайд 7. </a:t>
            </a:r>
            <a:r>
              <a:rPr lang="en-US" b="1" dirty="0" smtClean="0"/>
              <a:t>Price-moving </a:t>
            </a:r>
            <a:r>
              <a:rPr lang="ru-RU" b="1" dirty="0" smtClean="0"/>
              <a:t>новости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Примеры событий:</a:t>
            </a:r>
          </a:p>
          <a:p>
            <a:r>
              <a:rPr lang="ru-RU" dirty="0" smtClean="0"/>
              <a:t>дивидендные </a:t>
            </a:r>
            <a:r>
              <a:rPr lang="ru-RU" dirty="0" err="1" smtClean="0"/>
              <a:t>гэпы</a:t>
            </a:r>
            <a:r>
              <a:rPr lang="ru-RU" dirty="0" smtClean="0"/>
              <a:t> (Лукойл)</a:t>
            </a:r>
          </a:p>
          <a:p>
            <a:r>
              <a:rPr lang="ru-RU" dirty="0" smtClean="0"/>
              <a:t>корпоративные сделки</a:t>
            </a:r>
          </a:p>
          <a:p>
            <a:r>
              <a:rPr lang="ru-RU" dirty="0" smtClean="0"/>
              <a:t>сильные прогнозы</a:t>
            </a:r>
          </a:p>
          <a:p>
            <a:pPr marL="0" indent="0">
              <a:buNone/>
            </a:pPr>
            <a:r>
              <a:rPr lang="ru-RU" dirty="0" smtClean="0"/>
              <a:t>Не тональность важна более, а событие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0037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Слайд 8. Основные выводы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 err="1" smtClean="0"/>
              <a:t>Сентимент</a:t>
            </a:r>
            <a:r>
              <a:rPr lang="ru-RU" dirty="0" smtClean="0"/>
              <a:t> влияет точечно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Большинство новостей — шум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Реакция рынка событийная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SHAP позволяет выявлять реальные триггеры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3912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Слайд 9. Ограничения и ценность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Ограничения</a:t>
            </a:r>
          </a:p>
          <a:p>
            <a:r>
              <a:rPr lang="ru-RU" dirty="0" smtClean="0"/>
              <a:t>дневные данные</a:t>
            </a:r>
          </a:p>
          <a:p>
            <a:r>
              <a:rPr lang="ru-RU" dirty="0" smtClean="0"/>
              <a:t>новостной шум</a:t>
            </a:r>
          </a:p>
          <a:p>
            <a:r>
              <a:rPr lang="ru-RU" dirty="0" smtClean="0"/>
              <a:t>рынок частично эффективен</a:t>
            </a:r>
          </a:p>
          <a:p>
            <a:pPr marL="0" indent="0">
              <a:buNone/>
            </a:pPr>
            <a:r>
              <a:rPr lang="ru-RU" dirty="0" smtClean="0"/>
              <a:t>Ценность работы</a:t>
            </a:r>
          </a:p>
          <a:p>
            <a:r>
              <a:rPr lang="ru-RU" dirty="0" smtClean="0"/>
              <a:t>интерпретируемый анализ</a:t>
            </a:r>
          </a:p>
          <a:p>
            <a:r>
              <a:rPr lang="ru-RU" dirty="0" smtClean="0"/>
              <a:t>связка </a:t>
            </a:r>
            <a:r>
              <a:rPr lang="en-US" dirty="0" smtClean="0"/>
              <a:t>NLP + </a:t>
            </a:r>
            <a:r>
              <a:rPr lang="ru-RU" dirty="0" smtClean="0"/>
              <a:t>финансы</a:t>
            </a:r>
          </a:p>
          <a:p>
            <a:r>
              <a:rPr lang="ru-RU" dirty="0" smtClean="0"/>
              <a:t>применимо для </a:t>
            </a:r>
            <a:r>
              <a:rPr lang="en-US" dirty="0" smtClean="0"/>
              <a:t>event study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35568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201</Words>
  <Application>Microsoft Office PowerPoint</Application>
  <PresentationFormat>Широкоэкранный</PresentationFormat>
  <Paragraphs>58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Влияние новостного сентимента на цены акций</vt:lpstr>
      <vt:lpstr>Слайд 2. Задача</vt:lpstr>
      <vt:lpstr>Слайд 3. Данные</vt:lpstr>
      <vt:lpstr>Слайд 4. Признаки и модель</vt:lpstr>
      <vt:lpstr>Слайд 5. Зачем SHAP </vt:lpstr>
      <vt:lpstr>Слайд 6. SHAP по времени</vt:lpstr>
      <vt:lpstr>Слайд 7. Price-moving новости</vt:lpstr>
      <vt:lpstr>Слайд 8. Основные выводы</vt:lpstr>
      <vt:lpstr>Слайд 9. Ограничения и ценность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Влияние новостного сентимента на цены акций</dc:title>
  <dc:creator>Учетная запись Майкрософт</dc:creator>
  <cp:lastModifiedBy>Учетная запись Майкрософт</cp:lastModifiedBy>
  <cp:revision>5</cp:revision>
  <dcterms:created xsi:type="dcterms:W3CDTF">2026-02-09T09:20:46Z</dcterms:created>
  <dcterms:modified xsi:type="dcterms:W3CDTF">2026-02-09T10:52:11Z</dcterms:modified>
</cp:coreProperties>
</file>